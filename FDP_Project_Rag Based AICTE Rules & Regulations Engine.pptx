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type="screen16x9" cy="6858000" cx="12192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86"/>
  </p:normalViewPr>
  <p:slideViewPr>
    <p:cSldViewPr snapToGrid="0">
      <p:cViewPr varScale="1">
        <p:scale>
          <a:sx n="65" d="100"/>
          <a:sy n="65" d="100"/>
        </p:scale>
        <p:origin x="912" y="7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9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3;n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5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5" name="Google Shape;89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3" name="Google Shape;102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7" name="Google Shape;111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9" name="Google Shape;111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5" name="Google Shape;130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2" name="Google Shape;172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0" name="Google Shape;172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9" name="Google Shape;190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3" name="Google Shape;199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8" name="Google Shape;273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5" name="Google Shape;273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1" name="Google Shape;273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1" name="Google Shape;273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3" name="Google Shape;305;p20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23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583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5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84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5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6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7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8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9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85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1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692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93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694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95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6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86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9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0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1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73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3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4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87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3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algn="l" indent="-3810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algn="l" indent="-355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algn="l" indent="-355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704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8705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7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88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9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/>
          <a:noFill/>
          <a:ln>
            <a:noFill/>
          </a:ln>
        </p:spPr>
      </p:sp>
      <p:sp>
        <p:nvSpPr>
          <p:cNvPr id="1048710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8711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2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3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82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5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76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7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8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83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0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1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2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3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sz="4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sz="2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1044067" y="521208"/>
            <a:ext cx="9553829" cy="3108960"/>
          </a:xfrm>
        </p:spPr>
        <p:txBody>
          <a:bodyPr>
            <a:normAutofit/>
          </a:bodyPr>
          <a:p>
            <a:pPr algn="ctr"/>
            <a:r>
              <a:rPr b="1" dirty="0" sz="4800" lang="en-US"/>
              <a:t>FDP on Agentic AI: Foundations, Applications, and Future Directions</a:t>
            </a:r>
            <a:br>
              <a:rPr b="1" dirty="0" lang="en-US"/>
            </a:br>
            <a:endParaRPr dirty="0" lang="en-IN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712978" y="2880074"/>
            <a:ext cx="10515600" cy="1500187"/>
          </a:xfrm>
        </p:spPr>
        <p:txBody>
          <a:bodyPr/>
          <a:p>
            <a:pPr algn="ctr"/>
            <a:r>
              <a:rPr b="1" dirty="0" i="1" lang="en-US"/>
              <a:t>“</a:t>
            </a:r>
            <a:r>
              <a:rPr b="1" dirty="0" i="1" lang="en-US">
                <a:solidFill>
                  <a:schemeClr val="tx1"/>
                </a:solidFill>
              </a:rPr>
              <a:t>Exploring the Power of Agentic AI with IBM Granite and </a:t>
            </a:r>
            <a:r>
              <a:rPr b="1" dirty="0" i="1" lang="en-US" err="1">
                <a:solidFill>
                  <a:schemeClr val="tx1"/>
                </a:solidFill>
              </a:rPr>
              <a:t>LangFlow</a:t>
            </a:r>
            <a:r>
              <a:rPr b="1" dirty="0" i="1" lang="en-US">
                <a:solidFill>
                  <a:schemeClr val="tx1"/>
                </a:solidFill>
              </a:rPr>
              <a:t>”</a:t>
            </a:r>
            <a:endParaRPr dirty="0"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92;p2"/>
          <p:cNvSpPr/>
          <p:nvPr/>
        </p:nvSpPr>
        <p:spPr>
          <a:xfrm>
            <a:off x="690624" y="4425370"/>
            <a:ext cx="10795794" cy="19923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b="0" cap="none" sz="15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32" name="Google Shape;94;p2"/>
          <p:cNvSpPr txBox="1"/>
          <p:nvPr/>
        </p:nvSpPr>
        <p:spPr>
          <a:xfrm>
            <a:off x="924776" y="506065"/>
            <a:ext cx="7301728" cy="27130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b="1" cap="none" dirty="0" sz="3500" i="0" lang="en-US" strike="noStrike" u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b="1" cap="none" dirty="0" sz="3500" i="0" lang="en-US" strike="noStrike" u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SKYMINDS</a:t>
            </a:r>
            <a:r>
              <a:rPr b="1" cap="none" dirty="0" sz="3500" i="0" lang="en-US" strike="noStrike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cap="none" dirty="0" sz="3500" i="0" lang="en-US" strike="noStrike" u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048633" name="Google Shape;95;p2"/>
          <p:cNvSpPr txBox="1"/>
          <p:nvPr/>
        </p:nvSpPr>
        <p:spPr>
          <a:xfrm>
            <a:off x="96297" y="1170671"/>
            <a:ext cx="7426406" cy="451519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1" cap="none" dirty="0" sz="3200" i="0" lang="en-US" strike="noStrike" u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b="1" cap="none" dirty="0" sz="3200" i="0" strike="noStrike" u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94304" name="Google Shape;96;p2"/>
          <p:cNvGraphicFramePr>
            <a:graphicFrameLocks/>
          </p:cNvGraphicFramePr>
          <p:nvPr/>
        </p:nvGraphicFramePr>
        <p:xfrm>
          <a:off x="1596852" y="1942025"/>
          <a:ext cx="7230400" cy="41185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89125"/>
                <a:gridCol w="1880425"/>
                <a:gridCol w="1880425"/>
                <a:gridCol w="1880425"/>
              </a:tblGrid>
              <a:tr h="791500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800" lang="en-US" strike="noStrike" u="none"/>
                        <a:t>TEAM MEMBER NAME</a:t>
                      </a:r>
                      <a:endParaRPr cap="none" sz="1800" strike="noStrike" u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800" lang="en-US" strike="noStrike" u="none"/>
                        <a:t>Recent Passport Photo</a:t>
                      </a:r>
                      <a:endParaRPr cap="none" dirty="0" sz="1800" strike="noStrike" u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cap="none" sz="1800" lang="en-US" strike="noStrike" u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cap="none" sz="1800" strike="noStrike" u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cap="none" sz="1800" lang="en-US" strike="noStrike" u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</a:p>
                    <a:p>
                      <a:pPr algn="ctr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cap="none" sz="1800" lang="en-US" strike="noStrike" u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cap="none" sz="1800" strike="noStrike" u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9709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/>
                        <a:t>Renuka S. Deshpande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/>
                        <a:t>renukadeshpande1`920@gmail.com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/>
                        <a:t>9075760286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  <a:tr h="1262225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</a:tr>
              <a:tr h="9709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209715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230354" y="2972656"/>
            <a:ext cx="1739852" cy="1539316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Google Shape;106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651580" y="386939"/>
            <a:ext cx="5901439" cy="944962"/>
          </a:xfrm>
          <a:prstGeom prst="rect"/>
          <a:noFill/>
          <a:ln>
            <a:noFill/>
          </a:ln>
        </p:spPr>
      </p:pic>
      <p:sp>
        <p:nvSpPr>
          <p:cNvPr id="1048621" name="TextBox 1"/>
          <p:cNvSpPr txBox="1"/>
          <p:nvPr/>
        </p:nvSpPr>
        <p:spPr>
          <a:xfrm>
            <a:off x="804672" y="1188720"/>
            <a:ext cx="10341864" cy="329184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400" lang="en-US"/>
              <a:t>Rag Based AICTE Rules &amp; Regulations Engine</a:t>
            </a:r>
          </a:p>
          <a:p>
            <a:r>
              <a:rPr b="1" dirty="0" sz="2400" lang="en-US"/>
              <a:t>The Challenge</a:t>
            </a:r>
            <a:br>
              <a:rPr dirty="0" sz="2400" lang="en-US"/>
            </a:br>
            <a:r>
              <a:rPr dirty="0" sz="2400" lang="en-US"/>
              <a:t>Students, faculty, and institutions often struggle to understand AICTE rules, mandatory requirements, approvals, and online procedures. Information is spread across large PDFs, circulars, and websites — leading to confusion, delays, and compliance issues.</a:t>
            </a:r>
          </a:p>
          <a:p>
            <a:endParaRPr dirty="0" sz="2400" lang="en-US"/>
          </a:p>
          <a:p>
            <a:r>
              <a:rPr dirty="0" sz="2400" lang="en-US"/>
              <a:t>Manual searching is time‑consuming and error‑prone.</a:t>
            </a:r>
          </a:p>
          <a:p>
            <a:r>
              <a:rPr dirty="0" sz="2400" lang="en-US"/>
              <a:t>There is no single intelligent platform to query AICTE policies instantly.</a:t>
            </a:r>
            <a:endParaRPr dirty="0" sz="1600"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18;p4"/>
          <p:cNvSpPr/>
          <p:nvPr/>
        </p:nvSpPr>
        <p:spPr>
          <a:xfrm>
            <a:off x="324894" y="4502602"/>
            <a:ext cx="2328056" cy="18893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14" name="TextBox 1"/>
          <p:cNvSpPr txBox="1"/>
          <p:nvPr/>
        </p:nvSpPr>
        <p:spPr>
          <a:xfrm>
            <a:off x="1124712" y="1801400"/>
            <a:ext cx="10268712" cy="38633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 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Studied AICTE Approval Process Handbook, Circulars, and Regulations.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Explored Retrieval-Augmented Generation (RAG) for policy extraction.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limitations of traditional search vs. AI-based semantic retrieval.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Analysed IBM Granite model performance on regulatory and formal texts.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Designed a </a:t>
            </a:r>
            <a:r>
              <a:rPr dirty="0" sz="28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-based pipeline for question answering</a:t>
            </a:r>
            <a:r>
              <a:rPr dirty="0" lang="en-IN"/>
              <a:t>.</a:t>
            </a:r>
          </a:p>
        </p:txBody>
      </p:sp>
      <p:sp>
        <p:nvSpPr>
          <p:cNvPr id="1048615" name="TextBox 3"/>
          <p:cNvSpPr txBox="1"/>
          <p:nvPr/>
        </p:nvSpPr>
        <p:spPr>
          <a:xfrm>
            <a:off x="1033272" y="815376"/>
            <a:ext cx="6620256" cy="707886"/>
          </a:xfrm>
          <a:prstGeom prst="rect"/>
          <a:noFill/>
        </p:spPr>
        <p:txBody>
          <a:bodyPr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cap="none" dirty="0" sz="4000" i="0" lang="en-US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work </a:t>
            </a:r>
            <a:endParaRPr b="0" cap="none" dirty="0" sz="4000" i="0" lang="en-US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115;p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743200" y="639140"/>
            <a:ext cx="5901439" cy="944962"/>
          </a:xfrm>
          <a:prstGeom prst="rect"/>
          <a:noFill/>
          <a:ln>
            <a:noFill/>
          </a:ln>
        </p:spPr>
      </p:pic>
      <p:sp>
        <p:nvSpPr>
          <p:cNvPr id="1048606" name="Google Shape;118;p4"/>
          <p:cNvSpPr/>
          <p:nvPr/>
        </p:nvSpPr>
        <p:spPr>
          <a:xfrm>
            <a:off x="324894" y="4502602"/>
            <a:ext cx="2328056" cy="18893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7" name="TextBox 1"/>
          <p:cNvSpPr txBox="1"/>
          <p:nvPr/>
        </p:nvSpPr>
        <p:spPr>
          <a:xfrm>
            <a:off x="1005840" y="1584102"/>
            <a:ext cx="10268712" cy="34442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AICTE Rules &amp; Regulations Engine is an Agentic AI system that: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Accepts natural language queries about AICTE rules.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Uses RAG to fetch relevant policy documents.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Uses IBM Granite LLM for accurate, regulation-safe answers.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instant guidance on processes and required documents.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Built on IBM </a:t>
            </a:r>
            <a:r>
              <a:rPr dirty="0" sz="28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for modular, transparent pipeline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135;p5"/>
          <p:cNvSpPr/>
          <p:nvPr/>
        </p:nvSpPr>
        <p:spPr>
          <a:xfrm>
            <a:off x="537590" y="323239"/>
            <a:ext cx="5908929" cy="44850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cap="none" dirty="0" sz="3500" i="0" lang="en-US" err="1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b="1" cap="none" dirty="0" sz="3500" i="0" lang="en-US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 Used </a:t>
            </a:r>
            <a:endParaRPr b="0" cap="none" dirty="0" sz="35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7" name="Google Shape;148;p5"/>
          <p:cNvSpPr/>
          <p:nvPr/>
        </p:nvSpPr>
        <p:spPr>
          <a:xfrm>
            <a:off x="2264331" y="6784578"/>
            <a:ext cx="2140744" cy="22419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ctr" indent="0" lvl="0" marL="0" marR="0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b="0" cap="none" sz="16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8" name="Google Shape;149;p5"/>
          <p:cNvSpPr/>
          <p:nvPr/>
        </p:nvSpPr>
        <p:spPr>
          <a:xfrm>
            <a:off x="1782604" y="7100213"/>
            <a:ext cx="3104198" cy="7318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ctr" indent="0" lvl="0" marL="0" marR="0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b="0" cap="none" sz="16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9" name="Google Shape;150;p5"/>
          <p:cNvSpPr/>
          <p:nvPr/>
        </p:nvSpPr>
        <p:spPr>
          <a:xfrm>
            <a:off x="5732383" y="6784578"/>
            <a:ext cx="1793915" cy="22419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ctr" indent="0" lvl="0" marL="0" marR="0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b="0" cap="none" sz="16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0" name="Google Shape;151;p5"/>
          <p:cNvSpPr/>
          <p:nvPr/>
        </p:nvSpPr>
        <p:spPr>
          <a:xfrm>
            <a:off x="5077301" y="7100213"/>
            <a:ext cx="3104198" cy="7318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ctr" indent="0" lvl="0" marL="0" marR="0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b="0" cap="none" sz="16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1" name="Google Shape;152;p5"/>
          <p:cNvSpPr/>
          <p:nvPr/>
        </p:nvSpPr>
        <p:spPr>
          <a:xfrm>
            <a:off x="9027081" y="6784578"/>
            <a:ext cx="1793915" cy="22419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ctr" indent="0" lvl="0" marL="0" marR="0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b="0" cap="none" sz="16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2" name="Google Shape;153;p5"/>
          <p:cNvSpPr/>
          <p:nvPr/>
        </p:nvSpPr>
        <p:spPr>
          <a:xfrm>
            <a:off x="8371999" y="7100213"/>
            <a:ext cx="3104198" cy="7318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ctr" indent="0" lvl="0" marL="0" marR="0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b="0" cap="none" sz="16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3" name="TextBox 1"/>
          <p:cNvSpPr txBox="1"/>
          <p:nvPr/>
        </p:nvSpPr>
        <p:spPr>
          <a:xfrm>
            <a:off x="537590" y="1473766"/>
            <a:ext cx="8823960" cy="50952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1) Chat Input – captures user queries.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2) IBM </a:t>
            </a:r>
            <a:r>
              <a:rPr dirty="0" sz="28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AI Agent – processes queries with RAG + Granite model.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3) File Component – stores AICTE PDFs for retrieval.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4) Chat Output – displays final answers.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5) Text Splitter – divides documents for efficient chunking.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6) Vector Store – maintains embeddings for RAG search.</a:t>
            </a:r>
            <a:endParaRPr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lang="en-US"/>
          </a:p>
          <a:p>
            <a:endParaRPr dirty="0" lang="en-US"/>
          </a:p>
          <a:p>
            <a:endParaRPr dirty="0" lang="en-US"/>
          </a:p>
          <a:p>
            <a:r>
              <a:rPr dirty="0" lang="en-US"/>
              <a:t> </a:t>
            </a:r>
            <a:endParaRPr dirty="0"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79;p7"/>
          <p:cNvSpPr txBox="1"/>
          <p:nvPr/>
        </p:nvSpPr>
        <p:spPr>
          <a:xfrm>
            <a:off x="1992086" y="662974"/>
            <a:ext cx="8207828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</a:t>
            </a:r>
            <a:endParaRPr dirty="0"/>
          </a:p>
        </p:txBody>
      </p:sp>
      <p:pic>
        <p:nvPicPr>
          <p:cNvPr id="209715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11393" y="0"/>
            <a:ext cx="11769213" cy="6592529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Google Shape;178;p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1503825" y="1144600"/>
            <a:ext cx="9398152" cy="5344651"/>
          </a:xfrm>
          <a:prstGeom prst="rect"/>
          <a:noFill/>
          <a:ln>
            <a:noFill/>
          </a:ln>
        </p:spPr>
      </p:pic>
      <p:sp>
        <p:nvSpPr>
          <p:cNvPr id="1048618" name="Google Shape;179;p7"/>
          <p:cNvSpPr txBox="1"/>
          <p:nvPr/>
        </p:nvSpPr>
        <p:spPr>
          <a:xfrm>
            <a:off x="1992086" y="662974"/>
            <a:ext cx="8207828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extBox 1"/>
          <p:cNvSpPr txBox="1"/>
          <p:nvPr/>
        </p:nvSpPr>
        <p:spPr>
          <a:xfrm>
            <a:off x="475488" y="283464"/>
            <a:ext cx="9317736" cy="584775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3200" lang="en-US"/>
              <a:t>Role of Agentic AI  in your solution </a:t>
            </a:r>
            <a:endParaRPr b="1" dirty="0" sz="3200" lang="en-IN"/>
          </a:p>
        </p:txBody>
      </p:sp>
      <p:sp>
        <p:nvSpPr>
          <p:cNvPr id="1048637" name="TextBox 4"/>
          <p:cNvSpPr txBox="1"/>
          <p:nvPr/>
        </p:nvSpPr>
        <p:spPr>
          <a:xfrm>
            <a:off x="777977" y="1320658"/>
            <a:ext cx="6098458" cy="4701540"/>
          </a:xfrm>
          <a:prstGeom prst="rect"/>
          <a:noFill/>
        </p:spPr>
        <p:txBody>
          <a:bodyPr wrap="square">
            <a:spAutoFit/>
          </a:bodyPr>
          <a:p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Agentic AI enables:</a:t>
            </a:r>
          </a:p>
          <a:p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Autonomous retrieval of the correct AICTE rules.</a:t>
            </a:r>
          </a:p>
          <a:p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Self‑correction through grounded policy references.</a:t>
            </a:r>
          </a:p>
          <a:p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Workflow orchestration via </a:t>
            </a:r>
            <a:r>
              <a:rPr dirty="0" sz="28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agents.</a:t>
            </a:r>
          </a:p>
          <a:p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Reduction of hallucination using RAG.</a:t>
            </a:r>
          </a:p>
          <a:p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Policy‑compliant, accurate responses.</a:t>
            </a:r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extBox 1"/>
          <p:cNvSpPr txBox="1"/>
          <p:nvPr/>
        </p:nvSpPr>
        <p:spPr>
          <a:xfrm>
            <a:off x="777240" y="484632"/>
            <a:ext cx="7123176" cy="461665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400" lang="en-US"/>
              <a:t>Technology Used</a:t>
            </a:r>
            <a:endParaRPr b="1" dirty="0" sz="2400" lang="en-IN"/>
          </a:p>
        </p:txBody>
      </p:sp>
      <p:sp>
        <p:nvSpPr>
          <p:cNvPr id="1048641" name="TextBox 2"/>
          <p:cNvSpPr txBox="1"/>
          <p:nvPr/>
        </p:nvSpPr>
        <p:spPr>
          <a:xfrm>
            <a:off x="777240" y="1207008"/>
            <a:ext cx="10515600" cy="3964941"/>
          </a:xfrm>
          <a:prstGeom prst="rect"/>
          <a:noFill/>
        </p:spPr>
        <p:txBody>
          <a:bodyPr rtlCol="0" wrap="square">
            <a:spAutoFit/>
          </a:bodyPr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1800" lang="en-US" err="1"/>
              <a:t>Langflow</a:t>
            </a:r>
            <a:r>
              <a:rPr dirty="0" sz="1800" lang="en-US"/>
              <a:t> platform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1800" lang="en-US" err="1"/>
              <a:t>Langflow</a:t>
            </a:r>
            <a:r>
              <a:rPr dirty="0" sz="1800" lang="en-US"/>
              <a:t> component –  Agent  , Chat input , Chat output 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1800" lang="en-US"/>
              <a:t>IBM </a:t>
            </a:r>
            <a:r>
              <a:rPr dirty="0" sz="1800" lang="en-US" err="1"/>
              <a:t>Grainte</a:t>
            </a:r>
            <a:r>
              <a:rPr dirty="0" sz="1800" lang="en-US"/>
              <a:t> model -  for </a:t>
            </a:r>
            <a:r>
              <a:rPr dirty="0" sz="1800" lang="en-US" err="1"/>
              <a:t>eg</a:t>
            </a:r>
            <a:r>
              <a:rPr dirty="0" sz="1800" lang="en-US"/>
              <a:t> – ibm-granite-3-2-8b   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1800" lang="en-US"/>
              <a:t>IBM Cloud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1800" lang="en-US"/>
              <a:t>RAG 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sz="1800" lang="en-US"/>
          </a:p>
          <a:p>
            <a:endParaRPr dirty="0" lang="en-US"/>
          </a:p>
          <a:p>
            <a:endParaRPr dirty="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278;p18"/>
          <p:cNvSpPr/>
          <p:nvPr/>
        </p:nvSpPr>
        <p:spPr>
          <a:xfrm>
            <a:off x="1218724" y="475593"/>
            <a:ext cx="6444496" cy="70401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cap="none" dirty="0" sz="3500" i="0" lang="en-US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b="1" cap="none" dirty="0" sz="35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45" name="Google Shape;280;p18"/>
          <p:cNvSpPr/>
          <p:nvPr/>
        </p:nvSpPr>
        <p:spPr>
          <a:xfrm>
            <a:off x="1218724" y="3360216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46" name="Google Shape;281;p18"/>
          <p:cNvSpPr/>
          <p:nvPr/>
        </p:nvSpPr>
        <p:spPr>
          <a:xfrm>
            <a:off x="706695" y="1667013"/>
            <a:ext cx="7468553" cy="2034832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·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First platform dedicated to AICTE regulations using RAG.</a:t>
            </a:r>
          </a:p>
          <a:p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Converts large policy PDFs into searchable AI responses.</a:t>
            </a:r>
          </a:p>
          <a:p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Granite‑</a:t>
            </a: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compliance to avoid misinformation.</a:t>
            </a:r>
          </a:p>
          <a:p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answers to rules, approvals, and document requirements.</a:t>
            </a:r>
          </a:p>
          <a:p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dependency on manual reading of hundreds of pages</a:t>
            </a:r>
            <a:r>
              <a:rPr dirty="0" sz="2000" lang="en-US"/>
              <a:t>.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278;p18"/>
          <p:cNvSpPr/>
          <p:nvPr/>
        </p:nvSpPr>
        <p:spPr>
          <a:xfrm>
            <a:off x="1218724" y="420729"/>
            <a:ext cx="6444496" cy="70401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cap="none" dirty="0" sz="3500" i="0" lang="en-US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b="1" cap="none" dirty="0" sz="35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0" name="Google Shape;279;p18"/>
          <p:cNvSpPr/>
          <p:nvPr/>
        </p:nvSpPr>
        <p:spPr>
          <a:xfrm>
            <a:off x="1282732" y="1393947"/>
            <a:ext cx="9214580" cy="4277001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dirty="0" sz="3600" lang="en-US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https://github.com/renukadeshpande20/fdp_project_aicte_rules_regulations.git</a:t>
            </a:r>
            <a:endParaRPr dirty="0" sz="1850" lang="en-US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1" name="Google Shape;280;p18"/>
          <p:cNvSpPr/>
          <p:nvPr/>
        </p:nvSpPr>
        <p:spPr>
          <a:xfrm>
            <a:off x="1218724" y="3360216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2" name="Google Shape;281;p18"/>
          <p:cNvSpPr/>
          <p:nvPr/>
        </p:nvSpPr>
        <p:spPr>
          <a:xfrm>
            <a:off x="1218724" y="4395464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3" name="Google Shape;282;p18"/>
          <p:cNvSpPr/>
          <p:nvPr/>
        </p:nvSpPr>
        <p:spPr>
          <a:xfrm>
            <a:off x="1218724" y="5430713"/>
            <a:ext cx="7468553" cy="383024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278;p18"/>
          <p:cNvSpPr/>
          <p:nvPr/>
        </p:nvSpPr>
        <p:spPr>
          <a:xfrm>
            <a:off x="1218724" y="420729"/>
            <a:ext cx="6444496" cy="70401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cap="none" dirty="0" sz="3500" i="0" lang="en-US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 shots </a:t>
            </a:r>
            <a:endParaRPr b="1" cap="none" dirty="0" sz="35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7" name="Google Shape;280;p18"/>
          <p:cNvSpPr/>
          <p:nvPr/>
        </p:nvSpPr>
        <p:spPr>
          <a:xfrm>
            <a:off x="1218724" y="3360216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8" name="Google Shape;281;p18"/>
          <p:cNvSpPr/>
          <p:nvPr/>
        </p:nvSpPr>
        <p:spPr>
          <a:xfrm>
            <a:off x="1218724" y="4395464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59" name="Google Shape;282;p18"/>
          <p:cNvSpPr/>
          <p:nvPr/>
        </p:nvSpPr>
        <p:spPr>
          <a:xfrm>
            <a:off x="1218724" y="5430713"/>
            <a:ext cx="7468553" cy="383024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94968" y="176981"/>
            <a:ext cx="11503742" cy="6260290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53960" y="442452"/>
            <a:ext cx="11547987" cy="5825613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0438" y="339212"/>
            <a:ext cx="11135033" cy="6518787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278;p18"/>
          <p:cNvSpPr/>
          <p:nvPr/>
        </p:nvSpPr>
        <p:spPr>
          <a:xfrm>
            <a:off x="1218724" y="420729"/>
            <a:ext cx="6444496" cy="70401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cap="none" dirty="0" sz="3500" i="0" lang="en-US" strike="noStrike" u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b="1" cap="none" dirty="0" sz="350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66" name="Google Shape;279;p18"/>
          <p:cNvSpPr/>
          <p:nvPr/>
        </p:nvSpPr>
        <p:spPr>
          <a:xfrm>
            <a:off x="1282732" y="1393947"/>
            <a:ext cx="9214580" cy="4277001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endParaRPr dirty="0" sz="1850" lang="en-US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dirty="0" sz="1850" lang="en-US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dirty="0" sz="2000" lang="en-IN"/>
              <a:t>• 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NBA, NAAC, UGC policies.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Multilingual interface for Indian institutions.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Voice-based AI assistant.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Real‑time updates from AICTE website.</a:t>
            </a:r>
          </a:p>
          <a:p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 for faculty and students.</a:t>
            </a:r>
          </a:p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67" name="Google Shape;280;p18"/>
          <p:cNvSpPr/>
          <p:nvPr/>
        </p:nvSpPr>
        <p:spPr>
          <a:xfrm>
            <a:off x="1218724" y="3360216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68" name="Google Shape;281;p18"/>
          <p:cNvSpPr/>
          <p:nvPr/>
        </p:nvSpPr>
        <p:spPr>
          <a:xfrm>
            <a:off x="1218724" y="4395464"/>
            <a:ext cx="7468553" cy="7660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69" name="Google Shape;282;p18"/>
          <p:cNvSpPr/>
          <p:nvPr/>
        </p:nvSpPr>
        <p:spPr>
          <a:xfrm>
            <a:off x="1218724" y="5430713"/>
            <a:ext cx="7468553" cy="383024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cap="none" dirty="0" sz="1850" i="0" lang="en-US" strike="noStrike" u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cap="none" dirty="0" sz="1850" i="0" strike="noStrike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Google Shape;310;p2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Manda Anirudh</dc:creator>
  <cp:lastModifiedBy>Deshpande</cp:lastModifiedBy>
  <dcterms:created xsi:type="dcterms:W3CDTF">2025-07-07T07:06:56Z</dcterms:created>
  <dcterms:modified xsi:type="dcterms:W3CDTF">2025-11-21T05:42:50Z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995296660c8b44789244e2776bfe12b8</vt:lpwstr>
  </property>
</Properties>
</file>